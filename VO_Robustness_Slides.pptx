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508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Visual Odometry Robustness
Under Degraded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BBDD"/>
                </a:solidFill>
                <a:latin typeface="Calibri"/>
              </a:rPr>
              <a:t>16-833  ·  Robot Localization and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BBDD"/>
                </a:solidFill>
                <a:latin typeface="Calibri"/>
              </a:rPr>
              <a:t>Sander Schulman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  <a:latin typeface="Calibri"/>
              </a:rPr>
              <a:t>ORB vs SIFT · EuRoC MAV · Sim(3) ATE / RPE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Motivation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1A2744"/>
                </a:solidFill>
                <a:latin typeface="Calibri"/>
              </a:rPr>
              <a:t>Original Plan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Calibri"/>
              </a:rPr>
              <a:t>Benchmark three full C++ SLAM systems: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  •  ORB-SLAM3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  •  Stella-VSLAM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  •  DSO (Direct Sparse Odometry)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Calibri"/>
              </a:rPr>
              <a:t>
Build chain involved: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•  Pangolin (display)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•  g2o (graph opt.)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•  DBoW2 (loop closure)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•  Headless patches for Colab / Kaggle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C41230"/>
                </a:solidFill>
                <a:latin typeface="Calibri"/>
              </a:rPr>
              <a:t>
Outcome: pipeline never ran end-to-end
after weeks of build-chain debugging.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188720"/>
            <a:ext cx="57607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1A2744"/>
                </a:solidFill>
                <a:latin typeface="Calibri"/>
              </a:rPr>
              <a:t>Rescoped Approach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Calibri"/>
              </a:rPr>
              <a:t>Same scientific question, tractable experiment: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1A2744"/>
                </a:solidFill>
                <a:latin typeface="Calibri"/>
              </a:rPr>
              <a:t>
"Which algorithmic choices fail under
which perceptual degradation?"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
Swap the systems axis → feature detector axis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✓  Pure Python / OpenCV — no compilation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✓  Independent variable: ORB vs SIFT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✓  Controlled: identical VO back-end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✓  Synthetic degradations: blur · dark · noise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  ✓  EuRoC MAV ground-truth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Methodology: VO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Load
Frame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EuRoC
cam0 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81912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Undistort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Pinhole +
rad-tan 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35224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Degrade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blur / γ /
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4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Detect &amp;
Describe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ORB or
SIFT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2976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41848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Match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BFMatcher
+ Lowe 0.75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Essential
Matrix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RANSAC
1 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48472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Recover
Pose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R, t̂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2912" y="2107692"/>
            <a:ext cx="118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01784" y="1417320"/>
            <a:ext cx="1234440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GT-Scale
&amp; Chain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‖Δp_GT‖
cumulative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0436" y="1379220"/>
            <a:ext cx="1310640" cy="1493520"/>
          </a:xfrm>
          <a:prstGeom prst="rect">
            <a:avLst/>
          </a:prstGeom>
          <a:noFill/>
          <a:ln w="3175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29443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1230"/>
                </a:solidFill>
                <a:latin typeface="Calibri"/>
              </a:rPr>
              <a:t>← Independent variable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91840"/>
            <a:ext cx="117043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1A2744"/>
                </a:solidFill>
                <a:latin typeface="Calibri"/>
              </a:rPr>
              <a:t>Key design decisions</a:t>
            </a:r>
          </a:p>
          <a:p>
            <a:pPr algn="l">
              <a:spcBef>
                <a:spcPts val="600"/>
              </a:spcBef>
            </a:pPr>
            <a:r>
              <a:rPr b="1" sz="1400">
                <a:solidFill>
                  <a:srgbClr val="1A2744"/>
                </a:solidFill>
                <a:latin typeface="Calibri"/>
              </a:rPr>
              <a:t>  GT-scaled translation:  </a:t>
            </a:r>
            <a:r>
              <a:rPr sz="1400">
                <a:solidFill>
                  <a:srgbClr val="1A1A2E"/>
                </a:solidFill>
                <a:latin typeface="Calibri"/>
              </a:rPr>
              <a:t>each inter-frame translation is scaled by ‖Δp_GT‖ — isolates detector/matcher quality, not scale recovery.</a:t>
            </a:r>
          </a:p>
          <a:p>
            <a:pPr algn="l">
              <a:spcBef>
                <a:spcPts val="600"/>
              </a:spcBef>
            </a:pPr>
            <a:r>
              <a:rPr b="1" sz="1400">
                <a:solidFill>
                  <a:srgbClr val="1A2744"/>
                </a:solidFill>
                <a:latin typeface="Calibri"/>
              </a:rPr>
              <a:t>  Frame drop policy:  </a:t>
            </a:r>
            <a:r>
              <a:rPr sz="1400">
                <a:solidFill>
                  <a:srgbClr val="1A1A2E"/>
                </a:solidFill>
                <a:latin typeface="Calibri"/>
              </a:rPr>
              <a:t>if matches &lt; 15 or Essential matrix degenerate, frame is skipped; previous reference held.</a:t>
            </a:r>
          </a:p>
          <a:p>
            <a:pPr algn="l">
              <a:spcBef>
                <a:spcPts val="600"/>
              </a:spcBef>
            </a:pPr>
            <a:r>
              <a:rPr b="1" sz="1400">
                <a:solidFill>
                  <a:srgbClr val="1A2744"/>
                </a:solidFill>
                <a:latin typeface="Calibri"/>
              </a:rPr>
              <a:t>  Evaluation:  </a:t>
            </a:r>
            <a:r>
              <a:rPr sz="1400">
                <a:solidFill>
                  <a:srgbClr val="1A1A2E"/>
                </a:solidFill>
                <a:latin typeface="Calibri"/>
              </a:rPr>
              <a:t>evo_ape with Sim(3) alignment (--correct_scale) for ATE; evo_rpe without scale correction for RPE.</a:t>
            </a:r>
          </a:p>
          <a:p>
            <a:pPr algn="l">
              <a:spcBef>
                <a:spcPts val="600"/>
              </a:spcBef>
            </a:pPr>
            <a:r>
              <a:rPr b="1" sz="1400">
                <a:solidFill>
                  <a:srgbClr val="1A2744"/>
                </a:solidFill>
                <a:latin typeface="Calibri"/>
              </a:rPr>
              <a:t>  Stride:  </a:t>
            </a:r>
            <a:r>
              <a:rPr sz="1400">
                <a:solidFill>
                  <a:srgbClr val="1A1A2E"/>
                </a:solidFill>
                <a:latin typeface="Calibri"/>
              </a:rPr>
              <a:t>every 3rd frame in QUICK_MODE (stride=3); every frame for full sweep (stride=1).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Datasets &amp; Experimental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1148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0"/>
              </a:spcBef>
            </a:pPr>
            <a:r>
              <a:rPr sz="1700" b="1">
                <a:solidFill>
                  <a:srgbClr val="1A2744"/>
                </a:solidFill>
                <a:latin typeface="Calibri"/>
              </a:rPr>
              <a:t>EuRoC MAV Dataset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6B7280"/>
                </a:solidFill>
                <a:latin typeface="Calibri"/>
              </a:rPr>
              <a:t>Sequences used:</a:t>
            </a:r>
          </a:p>
          <a:p>
            <a:pPr algn="l">
              <a:spcBef>
                <a:spcPts val="500"/>
              </a:spcBef>
            </a:pPr>
            <a:r>
              <a:rPr sz="1400" b="1">
                <a:solidFill>
                  <a:srgbClr val="1A1A2E"/>
                </a:solidFill>
                <a:latin typeface="Calibri"/>
              </a:rPr>
              <a:t>  •  MH_01_easy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6B7280"/>
                </a:solidFill>
                <a:latin typeface="Calibri"/>
              </a:rPr>
              <a:t>     Machine Hall · 182 s · 3682 frames</a:t>
            </a:r>
          </a:p>
          <a:p>
            <a:pPr algn="l">
              <a:spcBef>
                <a:spcPts val="500"/>
              </a:spcBef>
            </a:pPr>
            <a:r>
              <a:rPr sz="1400" b="1">
                <a:solidFill>
                  <a:srgbClr val="1A1A2E"/>
                </a:solidFill>
                <a:latin typeface="Calibri"/>
              </a:rPr>
              <a:t>  •  V1_01_easy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6B7280"/>
                </a:solidFill>
                <a:latin typeface="Calibri"/>
              </a:rPr>
              <a:t>     Vicon Room 1 · 144 s · 2912 frames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6B7280"/>
                </a:solidFill>
                <a:latin typeface="Calibri"/>
              </a:rPr>
              <a:t>
Ground truth: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Vicon motion capture, 200 Hz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Converted to TUM format (ts x y z qx qy qz qw)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Nearest-neighbour lookup per cam0 timestamp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7280"/>
                </a:solidFill>
                <a:latin typeface="Calibri"/>
              </a:rPr>
              <a:t>
Camera: 20 Hz mono, 752×480
Pinhole + rad-tan distortion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34747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0"/>
              </a:spcBef>
            </a:pPr>
            <a:r>
              <a:rPr sz="1700" b="1">
                <a:solidFill>
                  <a:srgbClr val="1A2744"/>
                </a:solidFill>
                <a:latin typeface="Calibri"/>
              </a:rPr>
              <a:t>Degradations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6B7280"/>
                </a:solidFill>
                <a:latin typeface="Calibri"/>
              </a:rPr>
              <a:t>QUICK_MODE sweep (this run):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  •  clean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6B7280"/>
                </a:solidFill>
                <a:latin typeface="Calibri"/>
              </a:rPr>
              <a:t>     no degradation (baseline)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  •  blur_severe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6B7280"/>
                </a:solidFill>
                <a:latin typeface="Calibri"/>
              </a:rPr>
              <a:t>     Gaussian blur σ = 8 px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  •  dark_severe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6B7280"/>
                </a:solidFill>
                <a:latin typeface="Calibri"/>
              </a:rPr>
              <a:t>     gamma darkening γ = 4.5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  •  noise_severe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6B7280"/>
                </a:solidFill>
                <a:latin typeface="Calibri"/>
              </a:rPr>
              <a:t>     additive noise σ = 50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7280"/>
                </a:solidFill>
                <a:latin typeface="Calibri"/>
              </a:rPr>
              <a:t>
Full sweep (10 levels):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  3 severities each × blur / dark / noise
  + clean = 10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188720"/>
            <a:ext cx="33375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0"/>
              </a:spcBef>
            </a:pPr>
            <a:r>
              <a:rPr sz="1700" b="1">
                <a:solidFill>
                  <a:srgbClr val="1A2744"/>
                </a:solidFill>
                <a:latin typeface="Calibri"/>
              </a:rPr>
              <a:t>Experiment Grid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6B7280"/>
                </a:solidFill>
                <a:latin typeface="Calibri"/>
              </a:rPr>
              <a:t>QUICK_MODE: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1 sequence (MH_01_easy)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2 detectors (ORB, SIFT)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4 degradations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= 8 total runs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stride = 3, ~10 min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7280"/>
                </a:solidFill>
                <a:latin typeface="Calibri"/>
              </a:rPr>
              <a:t>
Full sweep: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2 sequences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2 detectors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10 degradations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= 40 total runs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stride = 1, ~1 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Degradation Visualizations (MH_01_easy, frame 200)</a:t>
            </a:r>
          </a:p>
        </p:txBody>
      </p:sp>
      <p:pic>
        <p:nvPicPr>
          <p:cNvPr id="5" name="Picture 4" descr="degrad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Results: ATE &amp; RPE (QUICK_MODE, MH_01_easy)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Degradation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43000"/>
            <a:ext cx="155448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ORB ATE (m)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155448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SIFT ATE (m)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143000"/>
            <a:ext cx="146304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ORB RPE (m)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143000"/>
            <a:ext cx="146304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SIFT RPE (m)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143000"/>
            <a:ext cx="192024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Failure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19202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645920"/>
            <a:ext cx="155448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1.377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645920"/>
            <a:ext cx="155448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0.204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645920"/>
            <a:ext cx="14630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0.099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645920"/>
            <a:ext cx="14630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19202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ORB:minor_drift
SIFT:tracking_loss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blur_severe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1488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FAIL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1488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0.086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14884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FAIL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14884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14884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ORB:complete_failure
SIFT:feature_starvation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51760"/>
            <a:ext cx="19202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dark_severe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651760"/>
            <a:ext cx="155448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1.064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651760"/>
            <a:ext cx="155448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0.143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651760"/>
            <a:ext cx="14630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651760"/>
            <a:ext cx="14630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0.097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651760"/>
            <a:ext cx="1920240" cy="502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ORB:tracking_loss
SIFT:feature_starvation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noise_severe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15468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1.079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15468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0.119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15468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15468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1A1A2E"/>
                </a:solidFill>
                <a:latin typeface="Calibri"/>
              </a:rPr>
              <a:t>0.078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15468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ORB:minor_drift
SIFT:feature_starvation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(Results from executed notebook)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5720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ATE: Sim(3)-aligned absolute trajectory error (evo_ape --correct_scale)
RPE: relative pose error without scale correction (evo_rpe)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Tracking rates — ORB/clean: 81.5%   ORB/blur_severe: 0.1%   ORB/dark_severe: 79.9%   ORB/noise_severe: 81.2%   SIFT/clean: 78.2%   SIFT/blur_severe: 4.3%   SIFT/dark_severe: 29.9%   SIFT/noise_severe: 9.7%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Results: ATE / RPE / Tracking Rate / Speed</a:t>
            </a:r>
          </a:p>
        </p:txBody>
      </p:sp>
      <p:pic>
        <p:nvPicPr>
          <p:cNvPr id="5" name="Picture 4" descr="comparis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Failure Mode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2331720" cy="71323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70432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873E"/>
                </a:solidFill>
                <a:latin typeface="Calibri"/>
              </a:rPr>
              <a:t>ATE ≤ 0.5 m, tracking ≥ 80%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170432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Detector robust to this degradation.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38528"/>
            <a:ext cx="2331720" cy="713232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minor_drift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938528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D6ACF"/>
                </a:solidFill>
                <a:latin typeface="Calibri"/>
              </a:rPr>
              <a:t>ATE 0.5–2.0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938528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Pose accumulates drift; trajectory shape still plausible.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06624"/>
            <a:ext cx="2331720" cy="713232"/>
          </a:xfrm>
          <a:prstGeom prst="rect">
            <a:avLst/>
          </a:prstGeom>
          <a:solidFill>
            <a:srgbClr val="D4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tracking_divergence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706624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47B00"/>
                </a:solidFill>
                <a:latin typeface="Calibri"/>
              </a:rPr>
              <a:t>ATE &gt; 2.0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706624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Cumulative error renders trajectory globally wrong.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2331720" cy="713232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tracking_loss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474720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C4400"/>
                </a:solidFill>
                <a:latin typeface="Calibri"/>
              </a:rPr>
              <a:t>tracking 30–80%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474720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Frequent frame drops; sparse trajectory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42816"/>
            <a:ext cx="2331720" cy="7132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feature_starvation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242816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tracking &lt; 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242816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Detector finds too few keypoints to sustain VO.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10912"/>
            <a:ext cx="2331720" cy="713232"/>
          </a:xfrm>
          <a:prstGeom prst="rect">
            <a:avLst/>
          </a:prstGeom>
          <a:solidFill>
            <a:srgbClr val="A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complete_failure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5010912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A0000"/>
                </a:solidFill>
                <a:latin typeface="Calibri"/>
              </a:rPr>
              <a:t>tracking = 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5010912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No usable trajectory produced.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79008"/>
            <a:ext cx="2331720" cy="713232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performance_bottleneck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779008"/>
            <a:ext cx="265176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844CC"/>
                </a:solidFill>
                <a:latin typeface="Calibri"/>
              </a:rPr>
              <a:t>per-frame &gt; 50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5779008"/>
            <a:ext cx="6080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Below real-time budget (EuRoC cam0 = 20 Hz).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Estimated Trajectories vs Ground Truth</a:t>
            </a:r>
          </a:p>
        </p:txBody>
      </p:sp>
      <p:pic>
        <p:nvPicPr>
          <p:cNvPr id="5" name="Picture 4" descr="traj_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5394960"/>
          </a:xfrm>
          <a:prstGeom prst="rect">
            <a:avLst/>
          </a:prstGeom>
        </p:spPr>
      </p:pic>
      <p:pic>
        <p:nvPicPr>
          <p:cNvPr id="6" name="Picture 5" descr="traj_S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57784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Tip: generate with  evo_traj tum results/trajectories/MH_01_easy__ORB__*.tum --ref data/euroc/MH_01_easy/gt.tum --plot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457200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43000"/>
            <a:ext cx="10835640" cy="822960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ORB vs SIFT under blur:  </a:t>
            </a:r>
            <a:r>
              <a:rPr sz="1400">
                <a:solidFill>
                  <a:srgbClr val="1A1A2E"/>
                </a:solidFill>
                <a:latin typeface="Calibri"/>
              </a:rPr>
              <a:t>See results table — compare ATE/RPE for blur_severe across detectors.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12848"/>
            <a:ext cx="457200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12848"/>
            <a:ext cx="10835640" cy="822960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Gamma darkening:  </a:t>
            </a:r>
            <a:r>
              <a:rPr sz="1400">
                <a:solidFill>
                  <a:srgbClr val="1A1A2E"/>
                </a:solidFill>
                <a:latin typeface="Calibri"/>
              </a:rPr>
              <a:t>See results table — compare ATE/RPE for dark_severe across detectors.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82696"/>
            <a:ext cx="457200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282696"/>
            <a:ext cx="10835640" cy="822960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Additive noise:  </a:t>
            </a:r>
            <a:r>
              <a:rPr sz="1400">
                <a:solidFill>
                  <a:srgbClr val="1A1A2E"/>
                </a:solidFill>
                <a:latin typeface="Calibri"/>
              </a:rPr>
              <a:t>See results table — compare ATE/RPE for noise_severe across detectors.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52544"/>
            <a:ext cx="457200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352544"/>
            <a:ext cx="10835640" cy="822960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Scale recovery limitation:  </a:t>
            </a:r>
            <a:r>
              <a:rPr sz="1400">
                <a:solidFill>
                  <a:srgbClr val="1A1A2E"/>
                </a:solidFill>
                <a:latin typeface="Calibri"/>
              </a:rPr>
              <a:t>GT-scaled VO measures detector/matcher quality only. ATE captures trajectory shape accuracy; scale drift is hidden by the Sim(3) alignment in evo_ape.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422392"/>
            <a:ext cx="457200" cy="8229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422392"/>
            <a:ext cx="10835640" cy="822960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Scope pivot was correct:  </a:t>
            </a:r>
            <a:r>
              <a:rPr sz="1400">
                <a:solidFill>
                  <a:srgbClr val="1A1A2E"/>
                </a:solidFill>
                <a:latin typeface="Calibri"/>
              </a:rPr>
              <a:t>A controlled 200-line Python pipeline produced reproducible, interpretable results where three C++ systems produced no output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Roadblocks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7572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  1.  C++ SLAM build chains are brutal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75720" cy="1389888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ORB-SLAM3 requires Pangolin (display), g2o (optimizer), DBoW2 (vocabulary), Sophus.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Each has its own CMake quirks; headless Colab/Kaggle patching adds another layer.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Weeks of effort: Eigen alignment fixes, C++14 patches, Pangolin removal — still no end-to-end run.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Lesson: for a semester project, validate the build chain in week 1 or choose pip-installable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19"/>
            <a:ext cx="1147572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  2.  ETH dataset server is unreliable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8999"/>
            <a:ext cx="11475720" cy="1389888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robotics.ethz.ch has multi-hour outages; wget fails silently mid-download.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Solution: resumable curl (-C -) with Wayback Machine fallback mirrors.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Lesson: always build redundant download paths for large research datasets.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892038"/>
            <a:ext cx="1147572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  3.  Monocular VO scale ambiguity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303518"/>
            <a:ext cx="11475720" cy="1389888"/>
          </a:xfrm>
          <a:prstGeom prst="rect">
            <a:avLst/>
          </a:prstGeom>
          <a:solidFill>
            <a:srgbClr val="F4F5F7"/>
          </a:solidFill>
          <a:ln w="6350">
            <a:solidFill>
              <a:srgbClr val="CC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Pure monocular VO cannot recover absolute scale without loop closure or known structure.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Used GT-scale rescue (‖Δp_GT‖ per frame) — standard pedagogical shortcut.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This measures matcher/detector quality, not full SLAM robustness.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 Lesson: be explicit about what you are and are not measuring.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